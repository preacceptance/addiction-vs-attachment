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55"/>
    <p:restoredTop sz="94673"/>
  </p:normalViewPr>
  <p:slideViewPr>
    <p:cSldViewPr snapToGrid="0" snapToObjects="1">
      <p:cViewPr varScale="1">
        <p:scale>
          <a:sx n="137" d="100"/>
          <a:sy n="137" d="100"/>
        </p:scale>
        <p:origin x="155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1533CD-6048-664A-89D7-1D26EF37752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C92465-8812-5E42-BBF0-3E4B07AD59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976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C92465-8812-5E42-BBF0-3E4B07AD59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07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283029" y="94322"/>
            <a:ext cx="1783080" cy="865035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 </a:t>
            </a:r>
          </a:p>
          <a:p>
            <a:pPr algn="ctr"/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Preparation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40426" y="94324"/>
            <a:ext cx="9658705" cy="865034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201168" tIns="109728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Legal</a:t>
            </a: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corpus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14 complaints → 4,146 paragraphs.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Media</a:t>
            </a: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corpus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578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articles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→ 21,314 paragraphs.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029" y="1413376"/>
            <a:ext cx="1783080" cy="1208961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Surface</a:t>
            </a: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-level</a:t>
            </a:r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
</a:t>
            </a: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7084" y="1413376"/>
            <a:ext cx="9752047" cy="1208961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201168" tIns="109728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Dictionary tagging on the word stems of “addiction” and “attachment”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each corpus</a:t>
            </a:r>
            <a:endParaRPr sz="15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each media and legal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paragraph labeled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as having </a:t>
            </a: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surface meaning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addiction, attachment, both, 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neither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7" name="Down Arrow 6"/>
          <p:cNvSpPr/>
          <p:nvPr/>
        </p:nvSpPr>
        <p:spPr>
          <a:xfrm>
            <a:off x="7040671" y="2721680"/>
            <a:ext cx="164874" cy="276742"/>
          </a:xfrm>
          <a:prstGeom prst="downArrow">
            <a:avLst/>
          </a:prstGeom>
          <a:solidFill>
            <a:schemeClr val="tx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150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3029" y="3069773"/>
            <a:ext cx="1783080" cy="1977182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Deeper</a:t>
            </a: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-level</a:t>
            </a:r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
</a:t>
            </a: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40427" y="3069773"/>
            <a:ext cx="9658704" cy="1977181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201168" tIns="109728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LLM </a:t>
            </a:r>
            <a:r>
              <a:rPr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classifier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 based on GPT-5.4: (1) Legal corpus classifier (2) Media corpus classifier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Each LLM classifier provided with (1) psychologically-informed instructions and (2) 150 hand-coded few-shot examples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Few-shot examples: 150 legal paragraphs (legal classifier only) and 150 media paragraphs (media classifier only)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Legal classifier applied to entire legal corpus; Media classifier to entire media corpus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each media and legal paragraph labeled as having </a:t>
            </a: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deeper meaning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addiction, attachment, both,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neither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029" y="5513961"/>
            <a:ext cx="1783080" cy="1213410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Validation</a:t>
            </a:r>
            <a:endParaRPr sz="16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40426" y="5513961"/>
            <a:ext cx="9565365" cy="1208961"/>
          </a:xfrm>
          <a:prstGeom prst="round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201168" tIns="109728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Within-LLM reliability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Two runs of the LLM classifier for each corpus; </a:t>
            </a:r>
            <a:r>
              <a:rPr lang="en-US" sz="1500" i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κ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0.90 for legal and </a:t>
            </a:r>
            <a:r>
              <a:rPr lang="en-US" sz="1500" i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κ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0.87 for media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LLM-vs-Human reliability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150 media paragraphs &amp; 150 legal paragraphs hand-coded by two human raters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After adjudicating disagreements between human raters, LLM vs human reliability computed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500" i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κ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0.79 for legal and </a:t>
            </a:r>
            <a:r>
              <a:rPr lang="en-US" sz="1500" i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κ</a:t>
            </a:r>
            <a:r>
              <a:rPr lang="en-US" sz="15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0.77 for media </a:t>
            </a:r>
            <a:endParaRPr sz="15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FA443499-4048-1C82-F76C-A6CD8DFFE323}"/>
              </a:ext>
            </a:extLst>
          </p:cNvPr>
          <p:cNvSpPr/>
          <p:nvPr/>
        </p:nvSpPr>
        <p:spPr>
          <a:xfrm>
            <a:off x="7040671" y="5147652"/>
            <a:ext cx="164874" cy="276742"/>
          </a:xfrm>
          <a:prstGeom prst="downArrow">
            <a:avLst/>
          </a:prstGeom>
          <a:solidFill>
            <a:schemeClr val="tx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150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C976AE27-237D-C038-A31B-7B9EE977C7B2}"/>
              </a:ext>
            </a:extLst>
          </p:cNvPr>
          <p:cNvSpPr/>
          <p:nvPr/>
        </p:nvSpPr>
        <p:spPr>
          <a:xfrm>
            <a:off x="7040671" y="1044304"/>
            <a:ext cx="164874" cy="276742"/>
          </a:xfrm>
          <a:prstGeom prst="downArrow">
            <a:avLst/>
          </a:prstGeom>
          <a:solidFill>
            <a:schemeClr val="tx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sz="150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2818</TotalTime>
  <Words>227</Words>
  <Application>Microsoft Macintosh PowerPoint</Application>
  <PresentationFormat>Custom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Joshi, Omkar</cp:lastModifiedBy>
  <cp:revision>47</cp:revision>
  <dcterms:created xsi:type="dcterms:W3CDTF">2013-01-27T09:14:16Z</dcterms:created>
  <dcterms:modified xsi:type="dcterms:W3CDTF">2026-07-22T17:19:39Z</dcterms:modified>
  <cp:category/>
</cp:coreProperties>
</file>