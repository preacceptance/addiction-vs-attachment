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3"/>
    <p:restoredTop sz="94685"/>
  </p:normalViewPr>
  <p:slideViewPr>
    <p:cSldViewPr snapToGrid="0" snapToObjects="1">
      <p:cViewPr varScale="1">
        <p:scale>
          <a:sx n="117" d="100"/>
          <a:sy n="117" d="100"/>
        </p:scale>
        <p:origin x="8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533CD-6048-664A-89D7-1D26EF37752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92465-8812-5E42-BBF0-3E4B07AD5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7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92465-8812-5E42-BBF0-3E4B07AD59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0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3029" y="94322"/>
            <a:ext cx="1783080" cy="865035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</a:p>
          <a:p>
            <a:pPr algn="ctr"/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40426" y="94324"/>
            <a:ext cx="9658705" cy="865034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01168" tIns="109728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corpus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 complaints → 9,000 paragraphs.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corpus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807 articles → 31,662 paragraphs.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3029" y="1413376"/>
            <a:ext cx="1783080" cy="1208961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Surface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-level</a:t>
            </a:r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7084" y="1413376"/>
            <a:ext cx="9752047" cy="1208961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01168" tIns="109728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Dictionary tagging on the word stems of “addiction” and “attachment”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each corpus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each media and legal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paragraph labeled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having 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surface meaning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addiction, attachment, both, 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neither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Down Arrow 6"/>
          <p:cNvSpPr/>
          <p:nvPr/>
        </p:nvSpPr>
        <p:spPr>
          <a:xfrm>
            <a:off x="7040671" y="2721680"/>
            <a:ext cx="164874" cy="276742"/>
          </a:xfrm>
          <a:prstGeom prst="downArrow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5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029" y="3069773"/>
            <a:ext cx="1783080" cy="197718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Deeper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-level</a:t>
            </a:r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427" y="3069773"/>
            <a:ext cx="9658704" cy="1977181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01168" tIns="109728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LLM </a:t>
            </a:r>
            <a:r>
              <a:rPr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based on GPT-5.4: (1) Legal corpus classifier (2) Media corpus classifier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LLM classifier provided with (1) psychologically-informed instructions and (2) hand-coded few-shot examples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Few-shot examples: 38 legal paragraphs (legal classifier only) and 39 media paragraphs (media classifier only)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classifier applied to entire legal corpus; Media classifier to entire media corpus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each media and legal paragraph labeled as having 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deeper meaning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addiction, attachment, both,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neither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029" y="5513961"/>
            <a:ext cx="1783080" cy="1213410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Validation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40426" y="5513961"/>
            <a:ext cx="9565365" cy="1208961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01168" tIns="109728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Within-LLM reliability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Two runs of the LLM classifier for each corpus; </a:t>
            </a:r>
            <a:r>
              <a:rPr lang="el-GR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 = 0.90 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legal and </a:t>
            </a:r>
            <a:r>
              <a:rPr lang="el-GR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 = 0.89 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media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LLM-vs-Human reliability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150 media paragraphs &amp; 150 legal paragraphs hand-coded by two human raters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adjudicating disagreements between human raters, LLM vs human reliability computed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5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0.81 for legal and </a:t>
            </a:r>
            <a:r>
              <a:rPr lang="en-US" sz="15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</a:t>
            </a:r>
            <a:r>
              <a:rPr lang="en-US" sz="15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0.80 for media 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FA443499-4048-1C82-F76C-A6CD8DFFE323}"/>
              </a:ext>
            </a:extLst>
          </p:cNvPr>
          <p:cNvSpPr/>
          <p:nvPr/>
        </p:nvSpPr>
        <p:spPr>
          <a:xfrm>
            <a:off x="7040671" y="5147652"/>
            <a:ext cx="164874" cy="276742"/>
          </a:xfrm>
          <a:prstGeom prst="downArrow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5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976AE27-237D-C038-A31B-7B9EE977C7B2}"/>
              </a:ext>
            </a:extLst>
          </p:cNvPr>
          <p:cNvSpPr/>
          <p:nvPr/>
        </p:nvSpPr>
        <p:spPr>
          <a:xfrm>
            <a:off x="7040671" y="1044304"/>
            <a:ext cx="164874" cy="276742"/>
          </a:xfrm>
          <a:prstGeom prst="downArrow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5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226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Joshi, Omkar</cp:lastModifiedBy>
  <cp:revision>53</cp:revision>
  <dcterms:created xsi:type="dcterms:W3CDTF">2013-01-27T09:14:16Z</dcterms:created>
  <dcterms:modified xsi:type="dcterms:W3CDTF">2026-08-15T21:48:35Z</dcterms:modified>
  <cp:category/>
</cp:coreProperties>
</file>